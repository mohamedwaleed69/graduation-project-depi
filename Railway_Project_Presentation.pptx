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6" r:id="rId2"/>
    <p:sldId id="256" r:id="rId3"/>
    <p:sldId id="257" r:id="rId4"/>
    <p:sldId id="258" r:id="rId5"/>
    <p:sldId id="259" r:id="rId6"/>
    <p:sldId id="260" r:id="rId7"/>
    <p:sldId id="261" r:id="rId8"/>
    <p:sldId id="262" r:id="rId9"/>
    <p:sldId id="263" r:id="rId10"/>
    <p:sldId id="269" r:id="rId11"/>
    <p:sldId id="265" r:id="rId12"/>
  </p:sldIdLst>
  <p:sldSz cx="13716000" cy="10287000"/>
  <p:notesSz cx="6858000" cy="9144000"/>
  <p:embeddedFontLst>
    <p:embeddedFont>
      <p:font typeface="Calibri" panose="020F0502020204030204" pitchFamily="34" charset="0"/>
      <p:regular r:id="rId13"/>
      <p:bold r:id="rId14"/>
      <p:italic r:id="rId15"/>
      <p:boldItalic r:id="rId16"/>
    </p:embeddedFont>
    <p:embeddedFont>
      <p:font typeface="Garet" panose="020B0604020202020204" charset="0"/>
      <p:regular r:id="rId17"/>
    </p:embeddedFont>
    <p:embeddedFont>
      <p:font typeface="Alexandria Bold" panose="020B0604020202020204" charset="-78"/>
      <p:regular r:id="rId18"/>
    </p:embeddedFont>
    <p:embeddedFont>
      <p:font typeface="Garet Bold" panose="020B0604020202020204" charset="0"/>
      <p:regular r:id="rId19"/>
    </p:embeddedFont>
    <p:embeddedFont>
      <p:font typeface="Alexandria" panose="020B0604020202020204" charset="-78"/>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1267" y="34"/>
      </p:cViewPr>
      <p:guideLst>
        <p:guide orient="horz" pos="216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5"/>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892" indent="0" algn="ctr">
              <a:buNone/>
              <a:defRPr>
                <a:solidFill>
                  <a:schemeClr val="tx1">
                    <a:tint val="75000"/>
                  </a:schemeClr>
                </a:solidFill>
              </a:defRPr>
            </a:lvl2pPr>
            <a:lvl3pPr marL="685783" indent="0" algn="ctr">
              <a:buNone/>
              <a:defRPr>
                <a:solidFill>
                  <a:schemeClr val="tx1">
                    <a:tint val="75000"/>
                  </a:schemeClr>
                </a:solidFill>
              </a:defRPr>
            </a:lvl3pPr>
            <a:lvl4pPr marL="1028675"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8" indent="0" algn="ctr">
              <a:buNone/>
              <a:defRPr>
                <a:solidFill>
                  <a:schemeClr val="tx1">
                    <a:tint val="75000"/>
                  </a:schemeClr>
                </a:solidFill>
              </a:defRPr>
            </a:lvl7pPr>
            <a:lvl8pPr marL="2400240" indent="0" algn="ctr">
              <a:buNone/>
              <a:defRPr>
                <a:solidFill>
                  <a:schemeClr val="tx1">
                    <a:tint val="75000"/>
                  </a:schemeClr>
                </a:solidFill>
              </a:defRPr>
            </a:lvl8pPr>
            <a:lvl9pPr marL="274313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5"/>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4"/>
            <a:ext cx="5829300" cy="1500187"/>
          </a:xfrm>
        </p:spPr>
        <p:txBody>
          <a:bodyPr anchor="b"/>
          <a:lstStyle>
            <a:lvl1pPr marL="0" indent="0">
              <a:buNone/>
              <a:defRPr sz="1500">
                <a:solidFill>
                  <a:schemeClr val="tx1">
                    <a:tint val="75000"/>
                  </a:schemeClr>
                </a:solidFill>
              </a:defRPr>
            </a:lvl1pPr>
            <a:lvl2pPr marL="342892" indent="0">
              <a:buNone/>
              <a:defRPr sz="1350">
                <a:solidFill>
                  <a:schemeClr val="tx1">
                    <a:tint val="75000"/>
                  </a:schemeClr>
                </a:solidFill>
              </a:defRPr>
            </a:lvl2pPr>
            <a:lvl3pPr marL="685783" indent="0">
              <a:buNone/>
              <a:defRPr sz="1200">
                <a:solidFill>
                  <a:schemeClr val="tx1">
                    <a:tint val="75000"/>
                  </a:schemeClr>
                </a:solidFill>
              </a:defRPr>
            </a:lvl3pPr>
            <a:lvl4pPr marL="1028675" indent="0">
              <a:buNone/>
              <a:defRPr sz="1050">
                <a:solidFill>
                  <a:schemeClr val="tx1">
                    <a:tint val="75000"/>
                  </a:schemeClr>
                </a:solidFill>
              </a:defRPr>
            </a:lvl4pPr>
            <a:lvl5pPr marL="1371566" indent="0">
              <a:buNone/>
              <a:defRPr sz="1050">
                <a:solidFill>
                  <a:schemeClr val="tx1">
                    <a:tint val="75000"/>
                  </a:schemeClr>
                </a:solidFill>
              </a:defRPr>
            </a:lvl5pPr>
            <a:lvl6pPr marL="1714457" indent="0">
              <a:buNone/>
              <a:defRPr sz="1050">
                <a:solidFill>
                  <a:schemeClr val="tx1">
                    <a:tint val="75000"/>
                  </a:schemeClr>
                </a:solidFill>
              </a:defRPr>
            </a:lvl6pPr>
            <a:lvl7pPr marL="2057348" indent="0">
              <a:buNone/>
              <a:defRPr sz="1050">
                <a:solidFill>
                  <a:schemeClr val="tx1">
                    <a:tint val="75000"/>
                  </a:schemeClr>
                </a:solidFill>
              </a:defRPr>
            </a:lvl7pPr>
            <a:lvl8pPr marL="2400240" indent="0">
              <a:buNone/>
              <a:defRPr sz="1050">
                <a:solidFill>
                  <a:schemeClr val="tx1">
                    <a:tint val="75000"/>
                  </a:schemeClr>
                </a:solidFill>
              </a:defRPr>
            </a:lvl8pPr>
            <a:lvl9pPr marL="2743132"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5"/>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5"/>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2" y="1535113"/>
            <a:ext cx="3030141" cy="63976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2"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71" y="1535113"/>
            <a:ext cx="3031331" cy="63976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71"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2"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9" y="273055"/>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2" y="1435105"/>
            <a:ext cx="2256235" cy="4691063"/>
          </a:xfrm>
        </p:spPr>
        <p:txBody>
          <a:bodyPr/>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43"/>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43"/>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5"/>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5"/>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5/9/2025</a:t>
            </a:fld>
            <a:endParaRPr lang="en-US"/>
          </a:p>
        </p:txBody>
      </p:sp>
      <p:sp>
        <p:nvSpPr>
          <p:cNvPr id="5" name="Footer Placeholder 4"/>
          <p:cNvSpPr>
            <a:spLocks noGrp="1"/>
          </p:cNvSpPr>
          <p:nvPr>
            <p:ph type="ftr" sz="quarter" idx="3"/>
          </p:nvPr>
        </p:nvSpPr>
        <p:spPr>
          <a:xfrm>
            <a:off x="2343150" y="6356355"/>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6356355"/>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783" rtl="0" eaLnBrk="1" latinLnBrk="0" hangingPunct="1">
        <a:spcBef>
          <a:spcPct val="0"/>
        </a:spcBef>
        <a:buNone/>
        <a:defRPr sz="3300" kern="1200">
          <a:solidFill>
            <a:schemeClr val="tx1"/>
          </a:solidFill>
          <a:latin typeface="+mj-lt"/>
          <a:ea typeface="+mj-ea"/>
          <a:cs typeface="+mj-cs"/>
        </a:defRPr>
      </a:lvl1pPr>
    </p:titleStyle>
    <p:bodyStyle>
      <a:lvl1pPr marL="257168" indent="-257168" algn="l" defTabSz="685783"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199" indent="-214308" algn="l" defTabSz="685783"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28" indent="-171446" algn="l" defTabSz="685783"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20"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12"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03"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6.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5.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6.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6.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5.gif"/><Relationship Id="rId5" Type="http://schemas.openxmlformats.org/officeDocument/2006/relationships/image" Target="../media/image6.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9F529C3-C941-49FD-8C67-82F134F64B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3716000" cy="10287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20586029-32A0-47E5-9AEC-AE3ABA6B94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6638" y="720090"/>
            <a:ext cx="12642723" cy="884682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of a globe with a graduation cap&#10;&#10;AI-generated content may be incorrect.">
            <a:extLst>
              <a:ext uri="{FF2B5EF4-FFF2-40B4-BE49-F238E27FC236}">
                <a16:creationId xmlns:a16="http://schemas.microsoft.com/office/drawing/2014/main" xmlns="" id="{5C102EFD-6295-C309-C8DE-D31AC72445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 y="2254569"/>
            <a:ext cx="5956555" cy="5777858"/>
          </a:xfrm>
          <a:prstGeom prst="rect">
            <a:avLst/>
          </a:prstGeom>
        </p:spPr>
      </p:pic>
      <p:cxnSp>
        <p:nvCxnSpPr>
          <p:cNvPr id="14" name="Straight Connector 13">
            <a:extLst>
              <a:ext uri="{FF2B5EF4-FFF2-40B4-BE49-F238E27FC236}">
                <a16:creationId xmlns:a16="http://schemas.microsoft.com/office/drawing/2014/main" xmlns="" id="{8C730EAB-A532-4295-A302-FB4B90DB9F5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6839952" y="1714500"/>
            <a:ext cx="0" cy="6858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stretch>
            <a:fillRect/>
          </a:stretch>
        </p:blipFill>
        <p:spPr>
          <a:xfrm>
            <a:off x="7035544" y="2165222"/>
            <a:ext cx="5956554" cy="5956554"/>
          </a:xfrm>
          <a:prstGeom prst="rect">
            <a:avLst/>
          </a:prstGeom>
        </p:spPr>
      </p:pic>
    </p:spTree>
    <p:extLst>
      <p:ext uri="{BB962C8B-B14F-4D97-AF65-F5344CB8AC3E}">
        <p14:creationId xmlns:p14="http://schemas.microsoft.com/office/powerpoint/2010/main" val="935240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TextBox 3"/>
          <p:cNvSpPr txBox="1"/>
          <p:nvPr/>
        </p:nvSpPr>
        <p:spPr>
          <a:xfrm>
            <a:off x="2582893" y="4964780"/>
            <a:ext cx="7641096" cy="1192634"/>
          </a:xfrm>
          <a:prstGeom prst="rect">
            <a:avLst/>
          </a:prstGeom>
        </p:spPr>
        <p:txBody>
          <a:bodyPr lIns="0" tIns="0" rIns="0" bIns="0" rtlCol="0" anchor="t">
            <a:spAutoFit/>
          </a:bodyPr>
          <a:lstStyle/>
          <a:p>
            <a:pPr>
              <a:lnSpc>
                <a:spcPts val="3067"/>
              </a:lnSpc>
              <a:spcBef>
                <a:spcPct val="0"/>
              </a:spcBef>
            </a:pPr>
            <a:r>
              <a:rPr lang="en-US" sz="2191">
                <a:solidFill>
                  <a:srgbClr val="545454"/>
                </a:solidFill>
                <a:latin typeface="Garet"/>
                <a:ea typeface="Garet"/>
                <a:cs typeface="Garet"/>
                <a:sym typeface="Garet"/>
              </a:rPr>
              <a:t>Using Power BI and Power Query, we will analyze pricing strategies, customer behavior, journey performance, and refund trends. </a:t>
            </a:r>
          </a:p>
        </p:txBody>
      </p:sp>
      <p:sp>
        <p:nvSpPr>
          <p:cNvPr id="4" name="TextBox 4"/>
          <p:cNvSpPr txBox="1"/>
          <p:nvPr/>
        </p:nvSpPr>
        <p:spPr>
          <a:xfrm>
            <a:off x="2141667" y="4471689"/>
            <a:ext cx="532541" cy="500137"/>
          </a:xfrm>
          <a:prstGeom prst="rect">
            <a:avLst/>
          </a:prstGeom>
        </p:spPr>
        <p:txBody>
          <a:bodyPr lIns="0" tIns="0" rIns="0" bIns="0" rtlCol="0" anchor="t">
            <a:spAutoFit/>
          </a:bodyPr>
          <a:lstStyle/>
          <a:p>
            <a:pPr algn="ctr">
              <a:lnSpc>
                <a:spcPts val="3932"/>
              </a:lnSpc>
            </a:pPr>
            <a:r>
              <a:rPr lang="en-US" sz="2808">
                <a:solidFill>
                  <a:srgbClr val="3F3D3E"/>
                </a:solidFill>
                <a:latin typeface="Alexandria"/>
                <a:ea typeface="Alexandria"/>
                <a:cs typeface="Alexandria"/>
                <a:sym typeface="Alexandria"/>
              </a:rPr>
              <a:t>2.</a:t>
            </a:r>
          </a:p>
        </p:txBody>
      </p:sp>
      <p:sp>
        <p:nvSpPr>
          <p:cNvPr id="5" name="Freeform 5"/>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6" name="AutoShape 6"/>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7" name="Freeform 7"/>
          <p:cNvSpPr/>
          <p:nvPr/>
        </p:nvSpPr>
        <p:spPr>
          <a:xfrm>
            <a:off x="10391094" y="3972349"/>
            <a:ext cx="3228743" cy="2342306"/>
          </a:xfrm>
          <a:custGeom>
            <a:avLst/>
            <a:gdLst/>
            <a:ahLst/>
            <a:cxnLst/>
            <a:rect l="l" t="t" r="r" b="b"/>
            <a:pathLst>
              <a:path w="4304990" h="3123074">
                <a:moveTo>
                  <a:pt x="0" y="0"/>
                </a:moveTo>
                <a:lnTo>
                  <a:pt x="4304990" y="0"/>
                </a:lnTo>
                <a:lnTo>
                  <a:pt x="4304990" y="3123074"/>
                </a:lnTo>
                <a:lnTo>
                  <a:pt x="0" y="3123074"/>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8" name="TextBox 8"/>
          <p:cNvSpPr txBox="1"/>
          <p:nvPr/>
        </p:nvSpPr>
        <p:spPr>
          <a:xfrm>
            <a:off x="2582896" y="2662420"/>
            <a:ext cx="8550215" cy="1731243"/>
          </a:xfrm>
          <a:prstGeom prst="rect">
            <a:avLst/>
          </a:prstGeom>
        </p:spPr>
        <p:txBody>
          <a:bodyPr lIns="0" tIns="0" rIns="0" bIns="0" rtlCol="0" anchor="t">
            <a:spAutoFit/>
          </a:bodyPr>
          <a:lstStyle/>
          <a:p>
            <a:pPr>
              <a:lnSpc>
                <a:spcPts val="2697"/>
              </a:lnSpc>
              <a:spcBef>
                <a:spcPct val="0"/>
              </a:spcBef>
            </a:pPr>
            <a:r>
              <a:rPr lang="en-US" sz="1926">
                <a:solidFill>
                  <a:srgbClr val="545454"/>
                </a:solidFill>
                <a:latin typeface="Garet"/>
                <a:ea typeface="Garet"/>
                <a:cs typeface="Garet"/>
                <a:sym typeface="Garet"/>
              </a:rPr>
              <a:t>Railway ticketing systems generate vast amounts of data, but unlocking their full potential requires a structured analytical approach. This project focuses on transforming raw ticketing data into actionable insights by enhancing data quality through cleaning, transformation, and normalization.</a:t>
            </a:r>
          </a:p>
        </p:txBody>
      </p:sp>
      <p:sp>
        <p:nvSpPr>
          <p:cNvPr id="9" name="TextBox 9"/>
          <p:cNvSpPr txBox="1"/>
          <p:nvPr/>
        </p:nvSpPr>
        <p:spPr>
          <a:xfrm>
            <a:off x="1060391" y="1950923"/>
            <a:ext cx="6903877" cy="512961"/>
          </a:xfrm>
          <a:prstGeom prst="rect">
            <a:avLst/>
          </a:prstGeom>
        </p:spPr>
        <p:txBody>
          <a:bodyPr lIns="0" tIns="0" rIns="0" bIns="0" rtlCol="0" anchor="t">
            <a:spAutoFit/>
          </a:bodyPr>
          <a:lstStyle/>
          <a:p>
            <a:pPr algn="ctr">
              <a:lnSpc>
                <a:spcPts val="3966"/>
              </a:lnSpc>
            </a:pPr>
            <a:r>
              <a:rPr lang="en-US" sz="2833" b="1">
                <a:solidFill>
                  <a:srgbClr val="3F3D3E"/>
                </a:solidFill>
                <a:latin typeface="Alexandria Bold"/>
                <a:ea typeface="Alexandria Bold"/>
                <a:cs typeface="Alexandria Bold"/>
                <a:sym typeface="Alexandria Bold"/>
              </a:rPr>
              <a:t>Project description:</a:t>
            </a:r>
          </a:p>
        </p:txBody>
      </p:sp>
      <p:sp>
        <p:nvSpPr>
          <p:cNvPr id="10" name="TextBox 10"/>
          <p:cNvSpPr txBox="1"/>
          <p:nvPr/>
        </p:nvSpPr>
        <p:spPr>
          <a:xfrm>
            <a:off x="2139278" y="1950924"/>
            <a:ext cx="534927" cy="500137"/>
          </a:xfrm>
          <a:prstGeom prst="rect">
            <a:avLst/>
          </a:prstGeom>
        </p:spPr>
        <p:txBody>
          <a:bodyPr lIns="0" tIns="0" rIns="0" bIns="0" rtlCol="0" anchor="t">
            <a:spAutoFit/>
          </a:bodyPr>
          <a:lstStyle/>
          <a:p>
            <a:pPr algn="ctr">
              <a:lnSpc>
                <a:spcPts val="3949"/>
              </a:lnSpc>
            </a:pPr>
            <a:r>
              <a:rPr lang="en-US" sz="2821">
                <a:solidFill>
                  <a:srgbClr val="3F3D3E"/>
                </a:solidFill>
                <a:latin typeface="Alexandria"/>
                <a:ea typeface="Alexandria"/>
                <a:cs typeface="Alexandria"/>
                <a:sym typeface="Alexandria"/>
              </a:rPr>
              <a:t>1.</a:t>
            </a:r>
          </a:p>
        </p:txBody>
      </p:sp>
      <p:sp>
        <p:nvSpPr>
          <p:cNvPr id="11" name="TextBox 11"/>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02</a:t>
            </a:r>
          </a:p>
        </p:txBody>
      </p:sp>
      <p:sp>
        <p:nvSpPr>
          <p:cNvPr id="12" name="TextBox 12"/>
          <p:cNvSpPr txBox="1"/>
          <p:nvPr/>
        </p:nvSpPr>
        <p:spPr>
          <a:xfrm>
            <a:off x="1060391" y="4469777"/>
            <a:ext cx="6903877" cy="512961"/>
          </a:xfrm>
          <a:prstGeom prst="rect">
            <a:avLst/>
          </a:prstGeom>
        </p:spPr>
        <p:txBody>
          <a:bodyPr lIns="0" tIns="0" rIns="0" bIns="0" rtlCol="0" anchor="t">
            <a:spAutoFit/>
          </a:bodyPr>
          <a:lstStyle/>
          <a:p>
            <a:pPr algn="ctr">
              <a:lnSpc>
                <a:spcPts val="3966"/>
              </a:lnSpc>
            </a:pPr>
            <a:r>
              <a:rPr lang="en-US" sz="2833" b="1">
                <a:solidFill>
                  <a:srgbClr val="3F3D3E"/>
                </a:solidFill>
                <a:latin typeface="Alexandria Bold"/>
                <a:ea typeface="Alexandria Bold"/>
                <a:cs typeface="Alexandria Bold"/>
                <a:sym typeface="Alexandria Bold"/>
              </a:rPr>
              <a:t>Proposed solution:</a:t>
            </a:r>
          </a:p>
        </p:txBody>
      </p:sp>
      <p:sp>
        <p:nvSpPr>
          <p:cNvPr id="13" name="TextBox 13"/>
          <p:cNvSpPr txBox="1"/>
          <p:nvPr/>
        </p:nvSpPr>
        <p:spPr>
          <a:xfrm>
            <a:off x="2582893" y="6809812"/>
            <a:ext cx="7641096" cy="1590179"/>
          </a:xfrm>
          <a:prstGeom prst="rect">
            <a:avLst/>
          </a:prstGeom>
        </p:spPr>
        <p:txBody>
          <a:bodyPr lIns="0" tIns="0" rIns="0" bIns="0" rtlCol="0" anchor="t">
            <a:spAutoFit/>
          </a:bodyPr>
          <a:lstStyle/>
          <a:p>
            <a:pPr>
              <a:lnSpc>
                <a:spcPts val="3067"/>
              </a:lnSpc>
              <a:spcBef>
                <a:spcPct val="0"/>
              </a:spcBef>
            </a:pPr>
            <a:r>
              <a:rPr lang="en-US" sz="2191">
                <a:solidFill>
                  <a:srgbClr val="545454"/>
                </a:solidFill>
                <a:latin typeface="Garet"/>
                <a:ea typeface="Garet"/>
                <a:cs typeface="Garet"/>
                <a:sym typeface="Garet"/>
              </a:rPr>
              <a:t>The ultimate goal is to empower railway operators with data-driven decision-making, improving efficiency, revenue management, and passenger satisfaction.</a:t>
            </a:r>
          </a:p>
        </p:txBody>
      </p:sp>
      <p:sp>
        <p:nvSpPr>
          <p:cNvPr id="14" name="TextBox 14"/>
          <p:cNvSpPr txBox="1"/>
          <p:nvPr/>
        </p:nvSpPr>
        <p:spPr>
          <a:xfrm>
            <a:off x="1535638" y="6334608"/>
            <a:ext cx="6903877" cy="512961"/>
          </a:xfrm>
          <a:prstGeom prst="rect">
            <a:avLst/>
          </a:prstGeom>
        </p:spPr>
        <p:txBody>
          <a:bodyPr lIns="0" tIns="0" rIns="0" bIns="0" rtlCol="0" anchor="t">
            <a:spAutoFit/>
          </a:bodyPr>
          <a:lstStyle/>
          <a:p>
            <a:pPr algn="ctr">
              <a:lnSpc>
                <a:spcPts val="3966"/>
              </a:lnSpc>
            </a:pPr>
            <a:r>
              <a:rPr lang="en-US" sz="2833" b="1">
                <a:solidFill>
                  <a:srgbClr val="3F3D3E"/>
                </a:solidFill>
                <a:latin typeface="Alexandria Bold"/>
                <a:ea typeface="Alexandria Bold"/>
                <a:cs typeface="Alexandria Bold"/>
                <a:sym typeface="Alexandria Bold"/>
              </a:rPr>
              <a:t>Unique Value Proposition:</a:t>
            </a:r>
          </a:p>
        </p:txBody>
      </p:sp>
      <p:sp>
        <p:nvSpPr>
          <p:cNvPr id="15" name="TextBox 15"/>
          <p:cNvSpPr txBox="1"/>
          <p:nvPr/>
        </p:nvSpPr>
        <p:spPr>
          <a:xfrm>
            <a:off x="2060696" y="6256029"/>
            <a:ext cx="534927" cy="500137"/>
          </a:xfrm>
          <a:prstGeom prst="rect">
            <a:avLst/>
          </a:prstGeom>
        </p:spPr>
        <p:txBody>
          <a:bodyPr lIns="0" tIns="0" rIns="0" bIns="0" rtlCol="0" anchor="t">
            <a:spAutoFit/>
          </a:bodyPr>
          <a:lstStyle/>
          <a:p>
            <a:pPr algn="ctr">
              <a:lnSpc>
                <a:spcPts val="3949"/>
              </a:lnSpc>
            </a:pPr>
            <a:r>
              <a:rPr lang="en-US" sz="2821">
                <a:solidFill>
                  <a:srgbClr val="3F3D3E"/>
                </a:solidFill>
                <a:latin typeface="Alexandria"/>
                <a:ea typeface="Alexandria"/>
                <a:cs typeface="Alexandria"/>
                <a:sym typeface="Alexandria"/>
              </a:rP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5" name="Freeform 5"/>
          <p:cNvSpPr/>
          <p:nvPr/>
        </p:nvSpPr>
        <p:spPr>
          <a:xfrm>
            <a:off x="2561220" y="2730836"/>
            <a:ext cx="9663769" cy="5384034"/>
          </a:xfrm>
          <a:custGeom>
            <a:avLst/>
            <a:gdLst/>
            <a:ahLst/>
            <a:cxnLst/>
            <a:rect l="l" t="t" r="r" b="b"/>
            <a:pathLst>
              <a:path w="12885025" h="7178712">
                <a:moveTo>
                  <a:pt x="0" y="0"/>
                </a:moveTo>
                <a:lnTo>
                  <a:pt x="12885025" y="0"/>
                </a:lnTo>
                <a:lnTo>
                  <a:pt x="12885025" y="7178713"/>
                </a:lnTo>
                <a:lnTo>
                  <a:pt x="0" y="7178713"/>
                </a:lnTo>
                <a:lnTo>
                  <a:pt x="0" y="0"/>
                </a:lnTo>
                <a:close/>
              </a:path>
            </a:pathLst>
          </a:custGeom>
          <a:blipFill>
            <a:blip r:embed="rId6"/>
            <a:stretch>
              <a:fillRect l="-133" t="-1731" r="-2918"/>
            </a:stretch>
          </a:blipFill>
        </p:spPr>
        <p:txBody>
          <a:bodyPr/>
          <a:lstStyle/>
          <a:p>
            <a:endParaRPr lang="en-US"/>
          </a:p>
        </p:txBody>
      </p:sp>
      <p:sp>
        <p:nvSpPr>
          <p:cNvPr id="6" name="TextBox 6"/>
          <p:cNvSpPr txBox="1"/>
          <p:nvPr/>
        </p:nvSpPr>
        <p:spPr>
          <a:xfrm>
            <a:off x="-563033" y="2007394"/>
            <a:ext cx="8927027" cy="500137"/>
          </a:xfrm>
          <a:prstGeom prst="rect">
            <a:avLst/>
          </a:prstGeom>
        </p:spPr>
        <p:txBody>
          <a:bodyPr lIns="0" tIns="0" rIns="0" bIns="0" rtlCol="0" anchor="t">
            <a:spAutoFit/>
          </a:bodyPr>
          <a:lstStyle/>
          <a:p>
            <a:pPr algn="ctr">
              <a:lnSpc>
                <a:spcPts val="3861"/>
              </a:lnSpc>
            </a:pPr>
            <a:r>
              <a:rPr lang="en-US" sz="2758" b="1">
                <a:solidFill>
                  <a:srgbClr val="3F3D3E"/>
                </a:solidFill>
                <a:latin typeface="Alexandria Bold"/>
                <a:ea typeface="Alexandria Bold"/>
                <a:cs typeface="Alexandria Bold"/>
                <a:sym typeface="Alexandria Bold"/>
              </a:rPr>
              <a:t>Dashboard Overview:</a:t>
            </a:r>
          </a:p>
        </p:txBody>
      </p:sp>
      <p:sp>
        <p:nvSpPr>
          <p:cNvPr id="7" name="TextBox 7"/>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5" name="Freeform 5"/>
          <p:cNvSpPr/>
          <p:nvPr/>
        </p:nvSpPr>
        <p:spPr>
          <a:xfrm>
            <a:off x="2497764" y="2422375"/>
            <a:ext cx="9846836" cy="5609123"/>
          </a:xfrm>
          <a:custGeom>
            <a:avLst/>
            <a:gdLst/>
            <a:ahLst/>
            <a:cxnLst/>
            <a:rect l="l" t="t" r="r" b="b"/>
            <a:pathLst>
              <a:path w="13129115" h="7478830">
                <a:moveTo>
                  <a:pt x="0" y="0"/>
                </a:moveTo>
                <a:lnTo>
                  <a:pt x="13129114" y="0"/>
                </a:lnTo>
                <a:lnTo>
                  <a:pt x="13129114" y="7478831"/>
                </a:lnTo>
                <a:lnTo>
                  <a:pt x="0" y="7478831"/>
                </a:lnTo>
                <a:lnTo>
                  <a:pt x="0" y="0"/>
                </a:lnTo>
                <a:close/>
              </a:path>
            </a:pathLst>
          </a:custGeom>
          <a:blipFill>
            <a:blip r:embed="rId6"/>
            <a:stretch>
              <a:fillRect l="-410" r="-410"/>
            </a:stretch>
          </a:blipFill>
        </p:spPr>
        <p:txBody>
          <a:bodyPr/>
          <a:lstStyle/>
          <a:p>
            <a:endParaRPr lang="en-US"/>
          </a:p>
        </p:txBody>
      </p:sp>
      <p:sp>
        <p:nvSpPr>
          <p:cNvPr id="6" name="TextBox 6"/>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TextBox 3"/>
          <p:cNvSpPr txBox="1"/>
          <p:nvPr/>
        </p:nvSpPr>
        <p:spPr>
          <a:xfrm>
            <a:off x="2073467" y="3171921"/>
            <a:ext cx="6667629" cy="2872581"/>
          </a:xfrm>
          <a:prstGeom prst="rect">
            <a:avLst/>
          </a:prstGeom>
        </p:spPr>
        <p:txBody>
          <a:bodyPr lIns="0" tIns="0" rIns="0" bIns="0" rtlCol="0" anchor="t">
            <a:spAutoFit/>
          </a:bodyPr>
          <a:lstStyle/>
          <a:p>
            <a:pPr marL="437308" lvl="1" indent="-218654">
              <a:lnSpc>
                <a:spcPts val="2836"/>
              </a:lnSpc>
              <a:buFont typeface="Arial"/>
              <a:buChar char="•"/>
            </a:pPr>
            <a:r>
              <a:rPr lang="en-US" sz="2025">
                <a:solidFill>
                  <a:srgbClr val="545454"/>
                </a:solidFill>
                <a:latin typeface="Garet"/>
                <a:ea typeface="Garet"/>
                <a:cs typeface="Garet"/>
                <a:sym typeface="Garet"/>
              </a:rPr>
              <a:t>Railway Ticketing Performance Overview</a:t>
            </a:r>
          </a:p>
          <a:p>
            <a:pPr marL="437308" lvl="1" indent="-218654">
              <a:lnSpc>
                <a:spcPts val="2836"/>
              </a:lnSpc>
              <a:buFont typeface="Arial"/>
              <a:buChar char="•"/>
            </a:pPr>
            <a:r>
              <a:rPr lang="en-US" sz="2025">
                <a:solidFill>
                  <a:srgbClr val="545454"/>
                </a:solidFill>
                <a:latin typeface="Garet"/>
                <a:ea typeface="Garet"/>
                <a:cs typeface="Garet"/>
                <a:sym typeface="Garet"/>
              </a:rPr>
              <a:t>Revenue &amp; Pricing Analysis </a:t>
            </a:r>
          </a:p>
          <a:p>
            <a:pPr marL="437308" lvl="1" indent="-218654">
              <a:lnSpc>
                <a:spcPts val="2836"/>
              </a:lnSpc>
              <a:buFont typeface="Arial"/>
              <a:buChar char="•"/>
            </a:pPr>
            <a:r>
              <a:rPr lang="en-US" sz="2025">
                <a:solidFill>
                  <a:srgbClr val="545454"/>
                </a:solidFill>
                <a:latin typeface="Garet"/>
                <a:ea typeface="Garet"/>
                <a:cs typeface="Garet"/>
                <a:sym typeface="Garet"/>
              </a:rPr>
              <a:t>Customer Behavior &amp; Purchase Patterns</a:t>
            </a:r>
          </a:p>
          <a:p>
            <a:pPr marL="437308" lvl="1" indent="-218654">
              <a:lnSpc>
                <a:spcPts val="2836"/>
              </a:lnSpc>
              <a:buFont typeface="Arial"/>
              <a:buChar char="•"/>
            </a:pPr>
            <a:r>
              <a:rPr lang="en-US" sz="2025">
                <a:solidFill>
                  <a:srgbClr val="545454"/>
                </a:solidFill>
                <a:latin typeface="Garet"/>
                <a:ea typeface="Garet"/>
                <a:cs typeface="Garet"/>
                <a:sym typeface="Garet"/>
              </a:rPr>
              <a:t>Booking Channel &amp; Time-of-Purchase Analysis</a:t>
            </a:r>
          </a:p>
          <a:p>
            <a:pPr marL="437308" lvl="1" indent="-218654">
              <a:lnSpc>
                <a:spcPts val="2836"/>
              </a:lnSpc>
              <a:buFont typeface="Arial"/>
              <a:buChar char="•"/>
            </a:pPr>
            <a:r>
              <a:rPr lang="en-US" sz="2025">
                <a:solidFill>
                  <a:srgbClr val="545454"/>
                </a:solidFill>
                <a:latin typeface="Garet"/>
                <a:ea typeface="Garet"/>
                <a:cs typeface="Garet"/>
                <a:sym typeface="Garet"/>
              </a:rPr>
              <a:t>Route-Level Performance Analysis</a:t>
            </a:r>
          </a:p>
          <a:p>
            <a:pPr marL="437308" lvl="1" indent="-218654">
              <a:lnSpc>
                <a:spcPts val="2836"/>
              </a:lnSpc>
              <a:buFont typeface="Arial"/>
              <a:buChar char="•"/>
            </a:pPr>
            <a:r>
              <a:rPr lang="en-US" sz="2025">
                <a:solidFill>
                  <a:srgbClr val="545454"/>
                </a:solidFill>
                <a:latin typeface="Garet"/>
                <a:ea typeface="Garet"/>
                <a:cs typeface="Garet"/>
                <a:sym typeface="Garet"/>
              </a:rPr>
              <a:t>Journey Performance Analysis</a:t>
            </a:r>
          </a:p>
          <a:p>
            <a:pPr marL="437308" lvl="1" indent="-218654">
              <a:lnSpc>
                <a:spcPts val="2836"/>
              </a:lnSpc>
              <a:buFont typeface="Arial"/>
              <a:buChar char="•"/>
            </a:pPr>
            <a:r>
              <a:rPr lang="en-US" sz="2025">
                <a:solidFill>
                  <a:srgbClr val="545454"/>
                </a:solidFill>
                <a:latin typeface="Garet"/>
                <a:ea typeface="Garet"/>
                <a:cs typeface="Garet"/>
                <a:sym typeface="Garet"/>
              </a:rPr>
              <a:t>Refund Requests &amp; Delay Impact Analysis</a:t>
            </a:r>
          </a:p>
          <a:p>
            <a:pPr>
              <a:lnSpc>
                <a:spcPts val="2836"/>
              </a:lnSpc>
            </a:pPr>
            <a:endParaRPr lang="en-US" sz="2025">
              <a:solidFill>
                <a:srgbClr val="545454"/>
              </a:solidFill>
              <a:latin typeface="Garet"/>
              <a:ea typeface="Garet"/>
              <a:cs typeface="Garet"/>
              <a:sym typeface="Garet"/>
            </a:endParaRPr>
          </a:p>
        </p:txBody>
      </p:sp>
      <p:sp>
        <p:nvSpPr>
          <p:cNvPr id="4" name="Freeform 4"/>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5" name="AutoShape 5"/>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6" name="Freeform 6"/>
          <p:cNvSpPr/>
          <p:nvPr/>
        </p:nvSpPr>
        <p:spPr>
          <a:xfrm>
            <a:off x="10159012" y="2706823"/>
            <a:ext cx="2955365" cy="3135665"/>
          </a:xfrm>
          <a:custGeom>
            <a:avLst/>
            <a:gdLst/>
            <a:ahLst/>
            <a:cxnLst/>
            <a:rect l="l" t="t" r="r" b="b"/>
            <a:pathLst>
              <a:path w="3940486" h="4180887">
                <a:moveTo>
                  <a:pt x="0" y="0"/>
                </a:moveTo>
                <a:lnTo>
                  <a:pt x="3940485" y="0"/>
                </a:lnTo>
                <a:lnTo>
                  <a:pt x="3940485" y="4180887"/>
                </a:lnTo>
                <a:lnTo>
                  <a:pt x="0" y="4180887"/>
                </a:lnTo>
                <a:lnTo>
                  <a:pt x="0" y="0"/>
                </a:lnTo>
                <a:close/>
              </a:path>
            </a:pathLst>
          </a:custGeom>
          <a:blipFill>
            <a:blip r:embed="rId6"/>
            <a:stretch>
              <a:fillRect/>
            </a:stretch>
          </a:blipFill>
        </p:spPr>
        <p:txBody>
          <a:bodyPr/>
          <a:lstStyle/>
          <a:p>
            <a:endParaRPr lang="en-US"/>
          </a:p>
        </p:txBody>
      </p:sp>
      <p:sp>
        <p:nvSpPr>
          <p:cNvPr id="7" name="TextBox 7"/>
          <p:cNvSpPr txBox="1"/>
          <p:nvPr/>
        </p:nvSpPr>
        <p:spPr>
          <a:xfrm>
            <a:off x="1710397" y="2469982"/>
            <a:ext cx="2879779" cy="461665"/>
          </a:xfrm>
          <a:prstGeom prst="rect">
            <a:avLst/>
          </a:prstGeom>
        </p:spPr>
        <p:txBody>
          <a:bodyPr lIns="0" tIns="0" rIns="0" bIns="0" rtlCol="0" anchor="t">
            <a:spAutoFit/>
          </a:bodyPr>
          <a:lstStyle/>
          <a:p>
            <a:pPr algn="ctr">
              <a:lnSpc>
                <a:spcPts val="3581"/>
              </a:lnSpc>
            </a:pPr>
            <a:r>
              <a:rPr lang="en-US" sz="2558" b="1">
                <a:solidFill>
                  <a:srgbClr val="3F3D3E"/>
                </a:solidFill>
                <a:latin typeface="Alexandria Bold"/>
                <a:ea typeface="Alexandria Bold"/>
                <a:cs typeface="Alexandria Bold"/>
                <a:sym typeface="Alexandria Bold"/>
              </a:rPr>
              <a:t>key features:</a:t>
            </a:r>
          </a:p>
        </p:txBody>
      </p:sp>
      <p:sp>
        <p:nvSpPr>
          <p:cNvPr id="8" name="TextBox 8"/>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05</a:t>
            </a:r>
          </a:p>
        </p:txBody>
      </p:sp>
      <p:sp>
        <p:nvSpPr>
          <p:cNvPr id="9" name="TextBox 9"/>
          <p:cNvSpPr txBox="1"/>
          <p:nvPr/>
        </p:nvSpPr>
        <p:spPr>
          <a:xfrm>
            <a:off x="1824698" y="5993603"/>
            <a:ext cx="5395018" cy="461665"/>
          </a:xfrm>
          <a:prstGeom prst="rect">
            <a:avLst/>
          </a:prstGeom>
        </p:spPr>
        <p:txBody>
          <a:bodyPr lIns="0" tIns="0" rIns="0" bIns="0" rtlCol="0" anchor="t">
            <a:spAutoFit/>
          </a:bodyPr>
          <a:lstStyle/>
          <a:p>
            <a:pPr algn="ctr">
              <a:lnSpc>
                <a:spcPts val="3581"/>
              </a:lnSpc>
            </a:pPr>
            <a:r>
              <a:rPr lang="en-US" sz="2558" b="1">
                <a:solidFill>
                  <a:srgbClr val="3F3D3E"/>
                </a:solidFill>
                <a:latin typeface="Alexandria Bold"/>
                <a:ea typeface="Alexandria Bold"/>
                <a:cs typeface="Alexandria Bold"/>
                <a:sym typeface="Alexandria Bold"/>
              </a:rPr>
              <a:t>How features solve problems:</a:t>
            </a:r>
          </a:p>
        </p:txBody>
      </p:sp>
      <p:sp>
        <p:nvSpPr>
          <p:cNvPr id="10" name="TextBox 10"/>
          <p:cNvSpPr txBox="1"/>
          <p:nvPr/>
        </p:nvSpPr>
        <p:spPr>
          <a:xfrm>
            <a:off x="2073470" y="6564508"/>
            <a:ext cx="9861134" cy="1436291"/>
          </a:xfrm>
          <a:prstGeom prst="rect">
            <a:avLst/>
          </a:prstGeom>
        </p:spPr>
        <p:txBody>
          <a:bodyPr lIns="0" tIns="0" rIns="0" bIns="0" rtlCol="0" anchor="t">
            <a:spAutoFit/>
          </a:bodyPr>
          <a:lstStyle/>
          <a:p>
            <a:pPr>
              <a:lnSpc>
                <a:spcPts val="2836"/>
              </a:lnSpc>
            </a:pPr>
            <a:r>
              <a:rPr lang="en-US" sz="2025">
                <a:solidFill>
                  <a:srgbClr val="545454"/>
                </a:solidFill>
                <a:latin typeface="Garet"/>
                <a:ea typeface="Garet"/>
                <a:cs typeface="Garet"/>
                <a:sym typeface="Garet"/>
              </a:rPr>
              <a:t>Analyze customer segments based on (rail card status, ticket class, ticket type, and purchase channel), Assess the impact of purchase channels, Determine the most popular payment methods and their correlation with pricing and refund requests, etc....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5" name="Freeform 5"/>
          <p:cNvSpPr/>
          <p:nvPr/>
        </p:nvSpPr>
        <p:spPr>
          <a:xfrm>
            <a:off x="11512167" y="1574696"/>
            <a:ext cx="1903238" cy="2352316"/>
          </a:xfrm>
          <a:custGeom>
            <a:avLst/>
            <a:gdLst/>
            <a:ahLst/>
            <a:cxnLst/>
            <a:rect l="l" t="t" r="r" b="b"/>
            <a:pathLst>
              <a:path w="2537650" h="3136421">
                <a:moveTo>
                  <a:pt x="0" y="0"/>
                </a:moveTo>
                <a:lnTo>
                  <a:pt x="2537650" y="0"/>
                </a:lnTo>
                <a:lnTo>
                  <a:pt x="2537650" y="3136421"/>
                </a:lnTo>
                <a:lnTo>
                  <a:pt x="0" y="31364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6" name="TextBox 6"/>
          <p:cNvSpPr txBox="1"/>
          <p:nvPr/>
        </p:nvSpPr>
        <p:spPr>
          <a:xfrm>
            <a:off x="322971" y="2002832"/>
            <a:ext cx="6903877" cy="538609"/>
          </a:xfrm>
          <a:prstGeom prst="rect">
            <a:avLst/>
          </a:prstGeom>
        </p:spPr>
        <p:txBody>
          <a:bodyPr lIns="0" tIns="0" rIns="0" bIns="0" rtlCol="0" anchor="t">
            <a:spAutoFit/>
          </a:bodyPr>
          <a:lstStyle/>
          <a:p>
            <a:pPr algn="ctr">
              <a:lnSpc>
                <a:spcPts val="4176"/>
              </a:lnSpc>
            </a:pPr>
            <a:r>
              <a:rPr lang="en-US" sz="2983" b="1">
                <a:solidFill>
                  <a:srgbClr val="3F3D3E"/>
                </a:solidFill>
                <a:latin typeface="Alexandria Bold"/>
                <a:ea typeface="Alexandria Bold"/>
                <a:cs typeface="Alexandria Bold"/>
                <a:sym typeface="Alexandria Bold"/>
              </a:rPr>
              <a:t>Data Structure:</a:t>
            </a:r>
          </a:p>
        </p:txBody>
      </p:sp>
      <p:sp>
        <p:nvSpPr>
          <p:cNvPr id="7" name="TextBox 7"/>
          <p:cNvSpPr txBox="1"/>
          <p:nvPr/>
        </p:nvSpPr>
        <p:spPr>
          <a:xfrm>
            <a:off x="3156272" y="3261541"/>
            <a:ext cx="8907402" cy="872034"/>
          </a:xfrm>
          <a:prstGeom prst="rect">
            <a:avLst/>
          </a:prstGeom>
        </p:spPr>
        <p:txBody>
          <a:bodyPr lIns="0" tIns="0" rIns="0" bIns="0" rtlCol="0" anchor="t">
            <a:spAutoFit/>
          </a:bodyPr>
          <a:lstStyle/>
          <a:p>
            <a:pPr>
              <a:lnSpc>
                <a:spcPts val="3432"/>
              </a:lnSpc>
            </a:pPr>
            <a:r>
              <a:rPr lang="en-US" sz="2451">
                <a:solidFill>
                  <a:srgbClr val="545454"/>
                </a:solidFill>
                <a:latin typeface="Garet"/>
                <a:ea typeface="Garet"/>
                <a:cs typeface="Garet"/>
                <a:sym typeface="Garet"/>
              </a:rPr>
              <a:t>Provided CSV files containing transactional journey related data.</a:t>
            </a:r>
          </a:p>
        </p:txBody>
      </p:sp>
      <p:sp>
        <p:nvSpPr>
          <p:cNvPr id="8" name="TextBox 8"/>
          <p:cNvSpPr txBox="1"/>
          <p:nvPr/>
        </p:nvSpPr>
        <p:spPr>
          <a:xfrm>
            <a:off x="2984579" y="4862971"/>
            <a:ext cx="10129796" cy="872034"/>
          </a:xfrm>
          <a:prstGeom prst="rect">
            <a:avLst/>
          </a:prstGeom>
        </p:spPr>
        <p:txBody>
          <a:bodyPr lIns="0" tIns="0" rIns="0" bIns="0" rtlCol="0" anchor="t">
            <a:spAutoFit/>
          </a:bodyPr>
          <a:lstStyle/>
          <a:p>
            <a:pPr>
              <a:lnSpc>
                <a:spcPts val="3371"/>
              </a:lnSpc>
            </a:pPr>
            <a:r>
              <a:rPr lang="en-US" sz="2408">
                <a:solidFill>
                  <a:srgbClr val="545454"/>
                </a:solidFill>
                <a:latin typeface="Garet"/>
                <a:ea typeface="Garet"/>
                <a:cs typeface="Garet"/>
                <a:sym typeface="Garet"/>
              </a:rPr>
              <a:t>Relational star schema — built with fact and dimension tables.</a:t>
            </a:r>
          </a:p>
          <a:p>
            <a:pPr>
              <a:lnSpc>
                <a:spcPts val="3371"/>
              </a:lnSpc>
            </a:pPr>
            <a:endParaRPr lang="en-US" sz="2408">
              <a:solidFill>
                <a:srgbClr val="545454"/>
              </a:solidFill>
              <a:latin typeface="Garet"/>
              <a:ea typeface="Garet"/>
              <a:cs typeface="Garet"/>
              <a:sym typeface="Garet"/>
            </a:endParaRPr>
          </a:p>
        </p:txBody>
      </p:sp>
      <p:sp>
        <p:nvSpPr>
          <p:cNvPr id="9" name="TextBox 9"/>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06</a:t>
            </a:r>
          </a:p>
        </p:txBody>
      </p:sp>
      <p:sp>
        <p:nvSpPr>
          <p:cNvPr id="10" name="TextBox 10"/>
          <p:cNvSpPr txBox="1"/>
          <p:nvPr/>
        </p:nvSpPr>
        <p:spPr>
          <a:xfrm>
            <a:off x="2593554" y="2707991"/>
            <a:ext cx="2061167" cy="436017"/>
          </a:xfrm>
          <a:prstGeom prst="rect">
            <a:avLst/>
          </a:prstGeom>
        </p:spPr>
        <p:txBody>
          <a:bodyPr lIns="0" tIns="0" rIns="0" bIns="0" rtlCol="0" anchor="t">
            <a:spAutoFit/>
          </a:bodyPr>
          <a:lstStyle/>
          <a:p>
            <a:pPr marL="530734" lvl="1" indent="-265367">
              <a:lnSpc>
                <a:spcPts val="3441"/>
              </a:lnSpc>
              <a:buFont typeface="Arial"/>
              <a:buChar char="•"/>
            </a:pPr>
            <a:r>
              <a:rPr lang="en-US" sz="2458" b="1">
                <a:solidFill>
                  <a:srgbClr val="3F3D3E"/>
                </a:solidFill>
                <a:latin typeface="Alexandria Bold"/>
                <a:ea typeface="Alexandria Bold"/>
                <a:cs typeface="Alexandria Bold"/>
                <a:sym typeface="Alexandria Bold"/>
              </a:rPr>
              <a:t>source:</a:t>
            </a:r>
          </a:p>
        </p:txBody>
      </p:sp>
      <p:sp>
        <p:nvSpPr>
          <p:cNvPr id="11" name="TextBox 11"/>
          <p:cNvSpPr txBox="1"/>
          <p:nvPr/>
        </p:nvSpPr>
        <p:spPr>
          <a:xfrm>
            <a:off x="2539031" y="4285121"/>
            <a:ext cx="2722904" cy="436017"/>
          </a:xfrm>
          <a:prstGeom prst="rect">
            <a:avLst/>
          </a:prstGeom>
        </p:spPr>
        <p:txBody>
          <a:bodyPr lIns="0" tIns="0" rIns="0" bIns="0" rtlCol="0" anchor="t">
            <a:spAutoFit/>
          </a:bodyPr>
          <a:lstStyle/>
          <a:p>
            <a:pPr marL="530734" lvl="1" indent="-265367">
              <a:lnSpc>
                <a:spcPts val="3441"/>
              </a:lnSpc>
              <a:buFont typeface="Arial"/>
              <a:buChar char="•"/>
            </a:pPr>
            <a:r>
              <a:rPr lang="en-US" sz="2458" b="1">
                <a:solidFill>
                  <a:srgbClr val="3F3D3E"/>
                </a:solidFill>
                <a:latin typeface="Alexandria Bold"/>
                <a:ea typeface="Alexandria Bold"/>
                <a:cs typeface="Alexandria Bold"/>
                <a:sym typeface="Alexandria Bold"/>
              </a:rPr>
              <a:t>schema type:</a:t>
            </a:r>
          </a:p>
        </p:txBody>
      </p:sp>
      <p:sp>
        <p:nvSpPr>
          <p:cNvPr id="12" name="TextBox 12"/>
          <p:cNvSpPr txBox="1"/>
          <p:nvPr/>
        </p:nvSpPr>
        <p:spPr>
          <a:xfrm>
            <a:off x="2539031" y="5506974"/>
            <a:ext cx="2722904" cy="436017"/>
          </a:xfrm>
          <a:prstGeom prst="rect">
            <a:avLst/>
          </a:prstGeom>
        </p:spPr>
        <p:txBody>
          <a:bodyPr lIns="0" tIns="0" rIns="0" bIns="0" rtlCol="0" anchor="t">
            <a:spAutoFit/>
          </a:bodyPr>
          <a:lstStyle/>
          <a:p>
            <a:pPr marL="530734" lvl="1" indent="-265367">
              <a:lnSpc>
                <a:spcPts val="3441"/>
              </a:lnSpc>
              <a:buFont typeface="Arial"/>
              <a:buChar char="•"/>
            </a:pPr>
            <a:r>
              <a:rPr lang="en-US" sz="2458" b="1">
                <a:solidFill>
                  <a:srgbClr val="3F3D3E"/>
                </a:solidFill>
                <a:latin typeface="Alexandria Bold"/>
                <a:ea typeface="Alexandria Bold"/>
                <a:cs typeface="Alexandria Bold"/>
                <a:sym typeface="Alexandria Bold"/>
              </a:rPr>
              <a:t>Entities:</a:t>
            </a:r>
          </a:p>
        </p:txBody>
      </p:sp>
      <p:sp>
        <p:nvSpPr>
          <p:cNvPr id="13" name="TextBox 13"/>
          <p:cNvSpPr txBox="1"/>
          <p:nvPr/>
        </p:nvSpPr>
        <p:spPr>
          <a:xfrm>
            <a:off x="2814681" y="6021174"/>
            <a:ext cx="10129796" cy="872034"/>
          </a:xfrm>
          <a:prstGeom prst="rect">
            <a:avLst/>
          </a:prstGeom>
        </p:spPr>
        <p:txBody>
          <a:bodyPr lIns="0" tIns="0" rIns="0" bIns="0" rtlCol="0" anchor="t">
            <a:spAutoFit/>
          </a:bodyPr>
          <a:lstStyle/>
          <a:p>
            <a:pPr>
              <a:lnSpc>
                <a:spcPts val="3371"/>
              </a:lnSpc>
            </a:pPr>
            <a:r>
              <a:rPr lang="en-US" sz="2408">
                <a:solidFill>
                  <a:srgbClr val="545454"/>
                </a:solidFill>
                <a:latin typeface="Garet"/>
                <a:ea typeface="Garet"/>
                <a:cs typeface="Garet"/>
                <a:sym typeface="Garet"/>
              </a:rPr>
              <a:t>FactSalesTickets, DimPurchase, DimJourney, DimDiscount, DimCalendar, etc.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5" name="Freeform 5"/>
          <p:cNvSpPr/>
          <p:nvPr/>
        </p:nvSpPr>
        <p:spPr>
          <a:xfrm>
            <a:off x="8526298" y="2144931"/>
            <a:ext cx="4262828" cy="1402858"/>
          </a:xfrm>
          <a:custGeom>
            <a:avLst/>
            <a:gdLst/>
            <a:ahLst/>
            <a:cxnLst/>
            <a:rect l="l" t="t" r="r" b="b"/>
            <a:pathLst>
              <a:path w="5683770" h="1870477">
                <a:moveTo>
                  <a:pt x="0" y="0"/>
                </a:moveTo>
                <a:lnTo>
                  <a:pt x="5683770" y="0"/>
                </a:lnTo>
                <a:lnTo>
                  <a:pt x="5683770" y="1870477"/>
                </a:lnTo>
                <a:lnTo>
                  <a:pt x="0" y="187047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6" name="TextBox 6"/>
          <p:cNvSpPr txBox="1"/>
          <p:nvPr/>
        </p:nvSpPr>
        <p:spPr>
          <a:xfrm>
            <a:off x="1366136" y="3504924"/>
            <a:ext cx="4471554" cy="410369"/>
          </a:xfrm>
          <a:prstGeom prst="rect">
            <a:avLst/>
          </a:prstGeom>
        </p:spPr>
        <p:txBody>
          <a:bodyPr lIns="0" tIns="0" rIns="0" bIns="0" rtlCol="0" anchor="t">
            <a:spAutoFit/>
          </a:bodyPr>
          <a:lstStyle/>
          <a:p>
            <a:pPr algn="ctr">
              <a:lnSpc>
                <a:spcPts val="3191"/>
              </a:lnSpc>
            </a:pPr>
            <a:r>
              <a:rPr lang="en-US" sz="2279" b="1">
                <a:solidFill>
                  <a:srgbClr val="3F3D3E"/>
                </a:solidFill>
                <a:latin typeface="Alexandria Bold"/>
                <a:ea typeface="Alexandria Bold"/>
                <a:cs typeface="Alexandria Bold"/>
                <a:sym typeface="Alexandria Bold"/>
              </a:rPr>
              <a:t>Programming language:</a:t>
            </a:r>
          </a:p>
        </p:txBody>
      </p:sp>
      <p:sp>
        <p:nvSpPr>
          <p:cNvPr id="7" name="TextBox 7"/>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07</a:t>
            </a:r>
          </a:p>
        </p:txBody>
      </p:sp>
      <p:sp>
        <p:nvSpPr>
          <p:cNvPr id="8" name="TextBox 8"/>
          <p:cNvSpPr txBox="1"/>
          <p:nvPr/>
        </p:nvSpPr>
        <p:spPr>
          <a:xfrm>
            <a:off x="1904513" y="4302783"/>
            <a:ext cx="9219420" cy="410369"/>
          </a:xfrm>
          <a:prstGeom prst="rect">
            <a:avLst/>
          </a:prstGeom>
        </p:spPr>
        <p:txBody>
          <a:bodyPr lIns="0" tIns="0" rIns="0" bIns="0" rtlCol="0" anchor="t">
            <a:spAutoFit/>
          </a:bodyPr>
          <a:lstStyle/>
          <a:p>
            <a:pPr algn="ctr">
              <a:lnSpc>
                <a:spcPts val="3191"/>
              </a:lnSpc>
            </a:pPr>
            <a:r>
              <a:rPr lang="en-US" sz="2279">
                <a:solidFill>
                  <a:srgbClr val="3F3D3E"/>
                </a:solidFill>
                <a:latin typeface="Alexandria"/>
                <a:ea typeface="Alexandria"/>
                <a:cs typeface="Alexandria"/>
                <a:sym typeface="Alexandria"/>
              </a:rPr>
              <a:t>Power BI's DAX and Power Query (M Language) were used.</a:t>
            </a:r>
          </a:p>
        </p:txBody>
      </p:sp>
      <p:sp>
        <p:nvSpPr>
          <p:cNvPr id="9" name="TextBox 9"/>
          <p:cNvSpPr txBox="1"/>
          <p:nvPr/>
        </p:nvSpPr>
        <p:spPr>
          <a:xfrm>
            <a:off x="672611" y="5498806"/>
            <a:ext cx="4471554" cy="410369"/>
          </a:xfrm>
          <a:prstGeom prst="rect">
            <a:avLst/>
          </a:prstGeom>
        </p:spPr>
        <p:txBody>
          <a:bodyPr lIns="0" tIns="0" rIns="0" bIns="0" rtlCol="0" anchor="t">
            <a:spAutoFit/>
          </a:bodyPr>
          <a:lstStyle/>
          <a:p>
            <a:pPr algn="ctr">
              <a:lnSpc>
                <a:spcPts val="3191"/>
              </a:lnSpc>
            </a:pPr>
            <a:r>
              <a:rPr lang="en-US" sz="2279" b="1">
                <a:solidFill>
                  <a:srgbClr val="3F3D3E"/>
                </a:solidFill>
                <a:latin typeface="Alexandria Bold"/>
                <a:ea typeface="Alexandria Bold"/>
                <a:cs typeface="Alexandria Bold"/>
                <a:sym typeface="Alexandria Bold"/>
              </a:rPr>
              <a:t>Framework:</a:t>
            </a:r>
          </a:p>
        </p:txBody>
      </p:sp>
      <p:sp>
        <p:nvSpPr>
          <p:cNvPr id="10" name="TextBox 10"/>
          <p:cNvSpPr txBox="1"/>
          <p:nvPr/>
        </p:nvSpPr>
        <p:spPr>
          <a:xfrm>
            <a:off x="2362912" y="6320181"/>
            <a:ext cx="9219420" cy="410369"/>
          </a:xfrm>
          <a:prstGeom prst="rect">
            <a:avLst/>
          </a:prstGeom>
        </p:spPr>
        <p:txBody>
          <a:bodyPr lIns="0" tIns="0" rIns="0" bIns="0" rtlCol="0" anchor="t">
            <a:spAutoFit/>
          </a:bodyPr>
          <a:lstStyle/>
          <a:p>
            <a:pPr>
              <a:lnSpc>
                <a:spcPts val="3191"/>
              </a:lnSpc>
            </a:pPr>
            <a:r>
              <a:rPr lang="en-US" sz="2279">
                <a:solidFill>
                  <a:srgbClr val="3F3D3E"/>
                </a:solidFill>
                <a:latin typeface="Alexandria"/>
                <a:ea typeface="Alexandria"/>
                <a:cs typeface="Alexandria"/>
                <a:sym typeface="Alexandria"/>
              </a:rPr>
              <a:t>Microsoft Power BI.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5" name="TextBox 5"/>
          <p:cNvSpPr txBox="1"/>
          <p:nvPr/>
        </p:nvSpPr>
        <p:spPr>
          <a:xfrm>
            <a:off x="1809252" y="2223073"/>
            <a:ext cx="7011782" cy="551433"/>
          </a:xfrm>
          <a:prstGeom prst="rect">
            <a:avLst/>
          </a:prstGeom>
        </p:spPr>
        <p:txBody>
          <a:bodyPr lIns="0" tIns="0" rIns="0" bIns="0" rtlCol="0" anchor="t">
            <a:spAutoFit/>
          </a:bodyPr>
          <a:lstStyle/>
          <a:p>
            <a:pPr algn="ctr">
              <a:lnSpc>
                <a:spcPts val="4281"/>
              </a:lnSpc>
            </a:pPr>
            <a:r>
              <a:rPr lang="en-US" sz="3058" b="1">
                <a:solidFill>
                  <a:srgbClr val="3F3D3E"/>
                </a:solidFill>
                <a:latin typeface="Alexandria Bold"/>
                <a:ea typeface="Alexandria Bold"/>
                <a:cs typeface="Alexandria Bold"/>
                <a:sym typeface="Alexandria Bold"/>
              </a:rPr>
              <a:t>Dashboard Testing &amp; Feedback:</a:t>
            </a:r>
          </a:p>
        </p:txBody>
      </p:sp>
      <p:sp>
        <p:nvSpPr>
          <p:cNvPr id="6" name="TextBox 6"/>
          <p:cNvSpPr txBox="1"/>
          <p:nvPr/>
        </p:nvSpPr>
        <p:spPr>
          <a:xfrm>
            <a:off x="2582896" y="3178585"/>
            <a:ext cx="8550215" cy="872034"/>
          </a:xfrm>
          <a:prstGeom prst="rect">
            <a:avLst/>
          </a:prstGeom>
        </p:spPr>
        <p:txBody>
          <a:bodyPr lIns="0" tIns="0" rIns="0" bIns="0" rtlCol="0" anchor="t">
            <a:spAutoFit/>
          </a:bodyPr>
          <a:lstStyle/>
          <a:p>
            <a:pPr marL="529297" lvl="1" indent="-264649" algn="ctr">
              <a:lnSpc>
                <a:spcPts val="3432"/>
              </a:lnSpc>
              <a:buFont typeface="Arial"/>
              <a:buChar char="•"/>
            </a:pPr>
            <a:r>
              <a:rPr lang="en-US" sz="2451" b="1">
                <a:solidFill>
                  <a:srgbClr val="545454"/>
                </a:solidFill>
                <a:latin typeface="Garet Bold"/>
                <a:ea typeface="Garet Bold"/>
                <a:cs typeface="Garet Bold"/>
                <a:sym typeface="Garet Bold"/>
              </a:rPr>
              <a:t>Current State:</a:t>
            </a:r>
            <a:r>
              <a:rPr lang="en-US" sz="2451">
                <a:solidFill>
                  <a:srgbClr val="545454"/>
                </a:solidFill>
                <a:latin typeface="Garet"/>
                <a:ea typeface="Garet"/>
                <a:cs typeface="Garet"/>
                <a:sym typeface="Garet"/>
              </a:rPr>
              <a:t>  Dashboards finalized and shared for internal use</a:t>
            </a:r>
          </a:p>
        </p:txBody>
      </p:sp>
      <p:sp>
        <p:nvSpPr>
          <p:cNvPr id="7" name="TextBox 7"/>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08</a:t>
            </a:r>
          </a:p>
        </p:txBody>
      </p:sp>
      <p:sp>
        <p:nvSpPr>
          <p:cNvPr id="8" name="TextBox 8"/>
          <p:cNvSpPr txBox="1"/>
          <p:nvPr/>
        </p:nvSpPr>
        <p:spPr>
          <a:xfrm>
            <a:off x="2582896" y="4470977"/>
            <a:ext cx="8550215" cy="1308050"/>
          </a:xfrm>
          <a:prstGeom prst="rect">
            <a:avLst/>
          </a:prstGeom>
        </p:spPr>
        <p:txBody>
          <a:bodyPr lIns="0" tIns="0" rIns="0" bIns="0" rtlCol="0" anchor="t">
            <a:spAutoFit/>
          </a:bodyPr>
          <a:lstStyle/>
          <a:p>
            <a:pPr marL="529297" lvl="1" indent="-264649" algn="ctr">
              <a:lnSpc>
                <a:spcPts val="3432"/>
              </a:lnSpc>
              <a:buFont typeface="Arial"/>
              <a:buChar char="•"/>
            </a:pPr>
            <a:r>
              <a:rPr lang="en-US" sz="2451" b="1">
                <a:solidFill>
                  <a:srgbClr val="545454"/>
                </a:solidFill>
                <a:latin typeface="Garet Bold"/>
                <a:ea typeface="Garet Bold"/>
                <a:cs typeface="Garet Bold"/>
                <a:sym typeface="Garet Bold"/>
              </a:rPr>
              <a:t>Testing:   </a:t>
            </a:r>
            <a:r>
              <a:rPr lang="en-US" sz="2451">
                <a:solidFill>
                  <a:srgbClr val="545454"/>
                </a:solidFill>
                <a:latin typeface="Garet"/>
                <a:ea typeface="Garet"/>
                <a:cs typeface="Garet"/>
                <a:sym typeface="Garet"/>
              </a:rPr>
              <a:t>Checked slicer behavior, data filters, and cross-report consistency</a:t>
            </a:r>
          </a:p>
          <a:p>
            <a:pPr algn="ctr">
              <a:lnSpc>
                <a:spcPts val="3432"/>
              </a:lnSpc>
            </a:pPr>
            <a:endParaRPr lang="en-US" sz="2451">
              <a:solidFill>
                <a:srgbClr val="545454"/>
              </a:solidFill>
              <a:latin typeface="Garet"/>
              <a:ea typeface="Garet"/>
              <a:cs typeface="Garet"/>
              <a:sym typeface="Garet"/>
            </a:endParaRPr>
          </a:p>
        </p:txBody>
      </p:sp>
      <p:sp>
        <p:nvSpPr>
          <p:cNvPr id="9" name="TextBox 9"/>
          <p:cNvSpPr txBox="1"/>
          <p:nvPr/>
        </p:nvSpPr>
        <p:spPr>
          <a:xfrm>
            <a:off x="2582896" y="5908892"/>
            <a:ext cx="8550215" cy="872034"/>
          </a:xfrm>
          <a:prstGeom prst="rect">
            <a:avLst/>
          </a:prstGeom>
        </p:spPr>
        <p:txBody>
          <a:bodyPr lIns="0" tIns="0" rIns="0" bIns="0" rtlCol="0" anchor="t">
            <a:spAutoFit/>
          </a:bodyPr>
          <a:lstStyle/>
          <a:p>
            <a:pPr marL="529297" lvl="1" indent="-264649" algn="ctr">
              <a:lnSpc>
                <a:spcPts val="3432"/>
              </a:lnSpc>
              <a:buFont typeface="Arial"/>
              <a:buChar char="•"/>
            </a:pPr>
            <a:r>
              <a:rPr lang="en-US" sz="2451" b="1">
                <a:solidFill>
                  <a:srgbClr val="545454"/>
                </a:solidFill>
                <a:latin typeface="Garet Bold"/>
                <a:ea typeface="Garet Bold"/>
                <a:cs typeface="Garet Bold"/>
                <a:sym typeface="Garet Bold"/>
              </a:rPr>
              <a:t>Feedback: </a:t>
            </a:r>
            <a:r>
              <a:rPr lang="en-US" sz="2451">
                <a:solidFill>
                  <a:srgbClr val="545454"/>
                </a:solidFill>
                <a:latin typeface="Garet"/>
                <a:ea typeface="Garet"/>
                <a:cs typeface="Garet"/>
                <a:sym typeface="Garet"/>
              </a:rPr>
              <a:t>  Stakeholders found it helpful for identifying refund trends and high-delay routes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sp>
        <p:nvSpPr>
          <p:cNvPr id="5" name="Freeform 5"/>
          <p:cNvSpPr/>
          <p:nvPr/>
        </p:nvSpPr>
        <p:spPr>
          <a:xfrm>
            <a:off x="9452172" y="1735556"/>
            <a:ext cx="3086100" cy="30861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6" name="TextBox 6"/>
          <p:cNvSpPr txBox="1"/>
          <p:nvPr/>
        </p:nvSpPr>
        <p:spPr>
          <a:xfrm>
            <a:off x="2007394" y="2155857"/>
            <a:ext cx="3595193" cy="551433"/>
          </a:xfrm>
          <a:prstGeom prst="rect">
            <a:avLst/>
          </a:prstGeom>
        </p:spPr>
        <p:txBody>
          <a:bodyPr lIns="0" tIns="0" rIns="0" bIns="0" rtlCol="0" anchor="t">
            <a:spAutoFit/>
          </a:bodyPr>
          <a:lstStyle/>
          <a:p>
            <a:pPr algn="ctr">
              <a:lnSpc>
                <a:spcPts val="4281"/>
              </a:lnSpc>
            </a:pPr>
            <a:r>
              <a:rPr lang="en-US" sz="3058" b="1">
                <a:solidFill>
                  <a:srgbClr val="3F3D3E"/>
                </a:solidFill>
                <a:latin typeface="Alexandria Bold"/>
                <a:ea typeface="Alexandria Bold"/>
                <a:cs typeface="Alexandria Bold"/>
                <a:sym typeface="Alexandria Bold"/>
              </a:rPr>
              <a:t>Deliverables:</a:t>
            </a:r>
          </a:p>
        </p:txBody>
      </p:sp>
      <p:sp>
        <p:nvSpPr>
          <p:cNvPr id="7" name="TextBox 7"/>
          <p:cNvSpPr txBox="1"/>
          <p:nvPr/>
        </p:nvSpPr>
        <p:spPr>
          <a:xfrm>
            <a:off x="3020979" y="2997862"/>
            <a:ext cx="5478402" cy="1744067"/>
          </a:xfrm>
          <a:prstGeom prst="rect">
            <a:avLst/>
          </a:prstGeom>
        </p:spPr>
        <p:txBody>
          <a:bodyPr lIns="0" tIns="0" rIns="0" bIns="0" rtlCol="0" anchor="t">
            <a:spAutoFit/>
          </a:bodyPr>
          <a:lstStyle/>
          <a:p>
            <a:pPr marL="529297" lvl="1" indent="-264649">
              <a:lnSpc>
                <a:spcPts val="3432"/>
              </a:lnSpc>
              <a:buFont typeface="Arial"/>
              <a:buChar char="•"/>
            </a:pPr>
            <a:r>
              <a:rPr lang="en-US" sz="2451" b="1">
                <a:solidFill>
                  <a:srgbClr val="545454"/>
                </a:solidFill>
                <a:latin typeface="Garet Bold"/>
                <a:ea typeface="Garet Bold"/>
                <a:cs typeface="Garet Bold"/>
                <a:sym typeface="Garet Bold"/>
              </a:rPr>
              <a:t>Deliverables Provided</a:t>
            </a:r>
            <a:r>
              <a:rPr lang="en-US" sz="2451">
                <a:solidFill>
                  <a:srgbClr val="545454"/>
                </a:solidFill>
                <a:latin typeface="Garet"/>
                <a:ea typeface="Garet"/>
                <a:cs typeface="Garet"/>
                <a:sym typeface="Garet"/>
              </a:rPr>
              <a:t>:</a:t>
            </a:r>
          </a:p>
          <a:p>
            <a:pPr>
              <a:lnSpc>
                <a:spcPts val="3432"/>
              </a:lnSpc>
            </a:pPr>
            <a:r>
              <a:rPr lang="en-US" sz="2451">
                <a:solidFill>
                  <a:srgbClr val="545454"/>
                </a:solidFill>
                <a:latin typeface="Garet"/>
                <a:ea typeface="Garet"/>
                <a:cs typeface="Garet"/>
                <a:sym typeface="Garet"/>
              </a:rPr>
              <a:t>       1. Final Power BI report (.pbix)</a:t>
            </a:r>
          </a:p>
          <a:p>
            <a:pPr>
              <a:lnSpc>
                <a:spcPts val="3432"/>
              </a:lnSpc>
            </a:pPr>
            <a:r>
              <a:rPr lang="en-US" sz="2451">
                <a:solidFill>
                  <a:srgbClr val="545454"/>
                </a:solidFill>
                <a:latin typeface="Garet"/>
                <a:ea typeface="Garet"/>
                <a:cs typeface="Garet"/>
                <a:sym typeface="Garet"/>
              </a:rPr>
              <a:t>       2. Cleaning report (PDF/Word)</a:t>
            </a:r>
          </a:p>
          <a:p>
            <a:pPr>
              <a:lnSpc>
                <a:spcPts val="3432"/>
              </a:lnSpc>
            </a:pPr>
            <a:r>
              <a:rPr lang="en-US" sz="2451">
                <a:solidFill>
                  <a:srgbClr val="545454"/>
                </a:solidFill>
                <a:latin typeface="Garet"/>
                <a:ea typeface="Garet"/>
                <a:cs typeface="Garet"/>
                <a:sym typeface="Garet"/>
              </a:rPr>
              <a:t>       3. Schema diagram</a:t>
            </a:r>
          </a:p>
        </p:txBody>
      </p:sp>
      <p:sp>
        <p:nvSpPr>
          <p:cNvPr id="8" name="TextBox 8"/>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09</a:t>
            </a:r>
          </a:p>
        </p:txBody>
      </p:sp>
      <p:sp>
        <p:nvSpPr>
          <p:cNvPr id="9" name="TextBox 9"/>
          <p:cNvSpPr txBox="1"/>
          <p:nvPr/>
        </p:nvSpPr>
        <p:spPr>
          <a:xfrm>
            <a:off x="3020980" y="4867904"/>
            <a:ext cx="9517293" cy="2180084"/>
          </a:xfrm>
          <a:prstGeom prst="rect">
            <a:avLst/>
          </a:prstGeom>
        </p:spPr>
        <p:txBody>
          <a:bodyPr lIns="0" tIns="0" rIns="0" bIns="0" rtlCol="0" anchor="t">
            <a:spAutoFit/>
          </a:bodyPr>
          <a:lstStyle/>
          <a:p>
            <a:pPr marL="529297" lvl="1" indent="-264649">
              <a:lnSpc>
                <a:spcPts val="3432"/>
              </a:lnSpc>
              <a:buFont typeface="Arial"/>
              <a:buChar char="•"/>
            </a:pPr>
            <a:r>
              <a:rPr lang="en-US" sz="2451" b="1">
                <a:solidFill>
                  <a:srgbClr val="545454"/>
                </a:solidFill>
                <a:latin typeface="Garet Bold"/>
                <a:ea typeface="Garet Bold"/>
                <a:cs typeface="Garet Bold"/>
                <a:sym typeface="Garet Bold"/>
              </a:rPr>
              <a:t>Timeline:</a:t>
            </a:r>
          </a:p>
          <a:p>
            <a:pPr marL="529297" lvl="1" indent="-264649">
              <a:lnSpc>
                <a:spcPts val="3432"/>
              </a:lnSpc>
              <a:buAutoNum type="arabicPeriod"/>
            </a:pPr>
            <a:r>
              <a:rPr lang="en-US" sz="2451">
                <a:solidFill>
                  <a:srgbClr val="545454"/>
                </a:solidFill>
                <a:latin typeface="Garet"/>
                <a:ea typeface="Garet"/>
                <a:cs typeface="Garet"/>
                <a:sym typeface="Garet"/>
              </a:rPr>
              <a:t>Data Cleaning &amp; Preprocessing:          week 1 </a:t>
            </a:r>
          </a:p>
          <a:p>
            <a:pPr marL="529297" lvl="1" indent="-264649">
              <a:lnSpc>
                <a:spcPts val="3432"/>
              </a:lnSpc>
              <a:buAutoNum type="arabicPeriod"/>
            </a:pPr>
            <a:r>
              <a:rPr lang="en-US" sz="2451">
                <a:solidFill>
                  <a:srgbClr val="545454"/>
                </a:solidFill>
                <a:latin typeface="Garet"/>
                <a:ea typeface="Garet"/>
                <a:cs typeface="Garet"/>
                <a:sym typeface="Garet"/>
              </a:rPr>
              <a:t>Analysis Questions &amp; Forecasting:      week 2 </a:t>
            </a:r>
          </a:p>
          <a:p>
            <a:pPr marL="529297" lvl="1" indent="-264649">
              <a:lnSpc>
                <a:spcPts val="3432"/>
              </a:lnSpc>
              <a:buAutoNum type="arabicPeriod"/>
            </a:pPr>
            <a:r>
              <a:rPr lang="en-US" sz="2451">
                <a:solidFill>
                  <a:srgbClr val="545454"/>
                </a:solidFill>
                <a:latin typeface="Garet"/>
                <a:ea typeface="Garet"/>
                <a:cs typeface="Garet"/>
                <a:sym typeface="Garet"/>
              </a:rPr>
              <a:t>Dashboard Development:                       week 3</a:t>
            </a:r>
          </a:p>
          <a:p>
            <a:pPr marL="529297" lvl="1" indent="-264649">
              <a:lnSpc>
                <a:spcPts val="3432"/>
              </a:lnSpc>
              <a:buAutoNum type="arabicPeriod"/>
            </a:pPr>
            <a:r>
              <a:rPr lang="en-US" sz="2451">
                <a:solidFill>
                  <a:srgbClr val="545454"/>
                </a:solidFill>
                <a:latin typeface="Garet"/>
                <a:ea typeface="Garet"/>
                <a:cs typeface="Garet"/>
                <a:sym typeface="Garet"/>
              </a:rPr>
              <a:t>Final Presentation &amp; Report:                  week 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3217691" y="2223073"/>
            <a:ext cx="4422364" cy="551433"/>
          </a:xfrm>
          <a:prstGeom prst="rect">
            <a:avLst/>
          </a:prstGeom>
        </p:spPr>
        <p:txBody>
          <a:bodyPr lIns="0" tIns="0" rIns="0" bIns="0" rtlCol="0" anchor="t">
            <a:spAutoFit/>
          </a:bodyPr>
          <a:lstStyle/>
          <a:p>
            <a:pPr algn="ctr">
              <a:lnSpc>
                <a:spcPts val="4281"/>
              </a:lnSpc>
            </a:pPr>
            <a:r>
              <a:rPr lang="en-US" sz="3058" b="1">
                <a:solidFill>
                  <a:srgbClr val="3F3D3E"/>
                </a:solidFill>
                <a:latin typeface="Alexandria Bold"/>
                <a:ea typeface="Alexandria Bold"/>
                <a:cs typeface="Alexandria Bold"/>
                <a:sym typeface="Alexandria Bold"/>
              </a:rPr>
              <a:t>Project Team + Roles:</a:t>
            </a:r>
          </a:p>
        </p:txBody>
      </p:sp>
      <p:sp>
        <p:nvSpPr>
          <p:cNvPr id="6" name="TextBox 6"/>
          <p:cNvSpPr txBox="1"/>
          <p:nvPr/>
        </p:nvSpPr>
        <p:spPr>
          <a:xfrm>
            <a:off x="2819675" y="3801008"/>
            <a:ext cx="9817857" cy="4360168"/>
          </a:xfrm>
          <a:prstGeom prst="rect">
            <a:avLst/>
          </a:prstGeom>
        </p:spPr>
        <p:txBody>
          <a:bodyPr lIns="0" tIns="0" rIns="0" bIns="0" rtlCol="0" anchor="t">
            <a:spAutoFit/>
          </a:bodyPr>
          <a:lstStyle/>
          <a:p>
            <a:pPr marL="529297" lvl="1" indent="-264649" algn="just">
              <a:lnSpc>
                <a:spcPts val="3432"/>
              </a:lnSpc>
              <a:buFont typeface="Arial"/>
              <a:buChar char="•"/>
            </a:pPr>
            <a:r>
              <a:rPr lang="en-US" sz="2451" b="1" dirty="0">
                <a:solidFill>
                  <a:srgbClr val="545454"/>
                </a:solidFill>
                <a:latin typeface="Garet Bold"/>
                <a:ea typeface="Garet Bold"/>
                <a:cs typeface="Garet Bold"/>
                <a:sym typeface="Garet Bold"/>
              </a:rPr>
              <a:t>Team </a:t>
            </a:r>
            <a:r>
              <a:rPr lang="en-US" sz="2451" b="1" dirty="0" smtClean="0">
                <a:solidFill>
                  <a:srgbClr val="545454"/>
                </a:solidFill>
                <a:latin typeface="Garet Bold"/>
                <a:ea typeface="Garet Bold"/>
                <a:cs typeface="Garet Bold"/>
                <a:sym typeface="Garet Bold"/>
              </a:rPr>
              <a:t>Name and members:</a:t>
            </a:r>
            <a:r>
              <a:rPr lang="en-US" sz="2451" dirty="0" smtClean="0">
                <a:solidFill>
                  <a:srgbClr val="545454"/>
                </a:solidFill>
                <a:latin typeface="Garet"/>
                <a:ea typeface="Garet"/>
                <a:cs typeface="Garet"/>
                <a:sym typeface="Garet"/>
              </a:rPr>
              <a:t>           </a:t>
            </a:r>
            <a:endParaRPr lang="en-US" sz="2451" dirty="0">
              <a:solidFill>
                <a:srgbClr val="545454"/>
              </a:solidFill>
              <a:latin typeface="Garet"/>
              <a:ea typeface="Garet"/>
              <a:cs typeface="Garet"/>
              <a:sym typeface="Garet"/>
            </a:endParaRPr>
          </a:p>
          <a:p>
            <a:pPr>
              <a:lnSpc>
                <a:spcPts val="3432"/>
              </a:lnSpc>
            </a:pPr>
            <a:r>
              <a:rPr lang="en-US" sz="2451" dirty="0">
                <a:solidFill>
                  <a:srgbClr val="545454"/>
                </a:solidFill>
                <a:latin typeface="Garet"/>
                <a:ea typeface="Garet"/>
                <a:cs typeface="Garet"/>
                <a:sym typeface="Garet"/>
              </a:rPr>
              <a:t>                                      </a:t>
            </a:r>
            <a:r>
              <a:rPr lang="en-US" sz="2451" b="1" u="sng" dirty="0">
                <a:solidFill>
                  <a:srgbClr val="545454"/>
                </a:solidFill>
                <a:latin typeface="Garet"/>
                <a:ea typeface="Garet"/>
                <a:cs typeface="Garet"/>
                <a:sym typeface="Garet"/>
              </a:rPr>
              <a:t>Data </a:t>
            </a:r>
            <a:r>
              <a:rPr lang="en-US" sz="2451" b="1" u="sng" dirty="0" smtClean="0">
                <a:solidFill>
                  <a:srgbClr val="545454"/>
                </a:solidFill>
                <a:latin typeface="Garet"/>
                <a:ea typeface="Garet"/>
                <a:cs typeface="Garet"/>
                <a:sym typeface="Garet"/>
              </a:rPr>
              <a:t>Detectives</a:t>
            </a:r>
          </a:p>
          <a:p>
            <a:pPr algn="just">
              <a:lnSpc>
                <a:spcPts val="3432"/>
              </a:lnSpc>
            </a:pPr>
            <a:r>
              <a:rPr lang="en-US" sz="2451" dirty="0" smtClean="0">
                <a:solidFill>
                  <a:srgbClr val="545454"/>
                </a:solidFill>
                <a:latin typeface="Garet"/>
                <a:ea typeface="Garet"/>
                <a:cs typeface="Garet"/>
                <a:sym typeface="Garet"/>
              </a:rPr>
              <a:t>Mohammed </a:t>
            </a:r>
            <a:r>
              <a:rPr lang="en-US" sz="2451" dirty="0" err="1" smtClean="0">
                <a:solidFill>
                  <a:srgbClr val="545454"/>
                </a:solidFill>
                <a:latin typeface="Garet"/>
                <a:ea typeface="Garet"/>
                <a:cs typeface="Garet"/>
                <a:sym typeface="Garet"/>
              </a:rPr>
              <a:t>waleed</a:t>
            </a:r>
            <a:r>
              <a:rPr lang="en-US" sz="2451" dirty="0">
                <a:solidFill>
                  <a:srgbClr val="545454"/>
                </a:solidFill>
                <a:latin typeface="Garet"/>
                <a:ea typeface="Garet"/>
                <a:cs typeface="Garet"/>
                <a:sym typeface="Garet"/>
              </a:rPr>
              <a:t> </a:t>
            </a:r>
            <a:r>
              <a:rPr lang="en-US" sz="2451" dirty="0" smtClean="0">
                <a:solidFill>
                  <a:srgbClr val="545454"/>
                </a:solidFill>
                <a:latin typeface="Garet"/>
                <a:ea typeface="Garet"/>
                <a:cs typeface="Garet"/>
                <a:sym typeface="Garet"/>
              </a:rPr>
              <a:t>                              </a:t>
            </a:r>
            <a:r>
              <a:rPr lang="en-US" sz="2451" dirty="0" err="1" smtClean="0">
                <a:solidFill>
                  <a:srgbClr val="545454"/>
                </a:solidFill>
                <a:latin typeface="Garet"/>
                <a:ea typeface="Garet"/>
                <a:cs typeface="Garet"/>
                <a:sym typeface="Garet"/>
              </a:rPr>
              <a:t>Noran</a:t>
            </a:r>
            <a:r>
              <a:rPr lang="en-US" sz="2451" dirty="0" smtClean="0">
                <a:solidFill>
                  <a:srgbClr val="545454"/>
                </a:solidFill>
                <a:latin typeface="Garet"/>
                <a:ea typeface="Garet"/>
                <a:cs typeface="Garet"/>
                <a:sym typeface="Garet"/>
              </a:rPr>
              <a:t> Ahmed</a:t>
            </a:r>
          </a:p>
          <a:p>
            <a:pPr algn="just">
              <a:lnSpc>
                <a:spcPts val="3432"/>
              </a:lnSpc>
            </a:pPr>
            <a:r>
              <a:rPr lang="en-US" sz="2451" dirty="0" err="1" smtClean="0">
                <a:solidFill>
                  <a:srgbClr val="545454"/>
                </a:solidFill>
                <a:latin typeface="Garet"/>
                <a:ea typeface="Garet"/>
                <a:cs typeface="Garet"/>
                <a:sym typeface="Garet"/>
              </a:rPr>
              <a:t>Abdelrhman</a:t>
            </a:r>
            <a:r>
              <a:rPr lang="en-US" sz="2451" dirty="0" smtClean="0">
                <a:solidFill>
                  <a:srgbClr val="545454"/>
                </a:solidFill>
                <a:latin typeface="Garet"/>
                <a:ea typeface="Garet"/>
                <a:cs typeface="Garet"/>
                <a:sym typeface="Garet"/>
              </a:rPr>
              <a:t> </a:t>
            </a:r>
            <a:r>
              <a:rPr lang="en-US" sz="2451" dirty="0" err="1" smtClean="0">
                <a:solidFill>
                  <a:srgbClr val="545454"/>
                </a:solidFill>
                <a:latin typeface="Garet"/>
                <a:ea typeface="Garet"/>
                <a:cs typeface="Garet"/>
                <a:sym typeface="Garet"/>
              </a:rPr>
              <a:t>Alaa</a:t>
            </a:r>
            <a:r>
              <a:rPr lang="en-US" sz="2451" dirty="0" smtClean="0">
                <a:solidFill>
                  <a:srgbClr val="545454"/>
                </a:solidFill>
                <a:latin typeface="Garet"/>
                <a:ea typeface="Garet"/>
                <a:cs typeface="Garet"/>
                <a:sym typeface="Garet"/>
              </a:rPr>
              <a:t>                                    Abdrabo Gamal</a:t>
            </a:r>
          </a:p>
          <a:p>
            <a:pPr algn="just">
              <a:lnSpc>
                <a:spcPts val="3432"/>
              </a:lnSpc>
            </a:pPr>
            <a:endParaRPr lang="en-US" sz="2451" dirty="0">
              <a:solidFill>
                <a:srgbClr val="545454"/>
              </a:solidFill>
              <a:latin typeface="Garet"/>
              <a:ea typeface="Garet"/>
              <a:cs typeface="Garet"/>
              <a:sym typeface="Garet"/>
            </a:endParaRPr>
          </a:p>
          <a:p>
            <a:pPr marL="529297" lvl="1" indent="-264649" algn="just">
              <a:lnSpc>
                <a:spcPts val="3432"/>
              </a:lnSpc>
              <a:buFont typeface="Arial"/>
              <a:buChar char="•"/>
            </a:pPr>
            <a:r>
              <a:rPr lang="en-US" sz="2451" b="1" dirty="0">
                <a:solidFill>
                  <a:srgbClr val="545454"/>
                </a:solidFill>
                <a:latin typeface="Garet Bold"/>
                <a:ea typeface="Garet Bold"/>
                <a:cs typeface="Garet Bold"/>
                <a:sym typeface="Garet Bold"/>
              </a:rPr>
              <a:t>Role: </a:t>
            </a:r>
          </a:p>
          <a:p>
            <a:pPr algn="just">
              <a:lnSpc>
                <a:spcPts val="3432"/>
              </a:lnSpc>
            </a:pPr>
            <a:r>
              <a:rPr lang="en-US" sz="2451" b="1" dirty="0">
                <a:solidFill>
                  <a:srgbClr val="545454"/>
                </a:solidFill>
                <a:latin typeface="Garet Bold"/>
                <a:ea typeface="Garet Bold"/>
                <a:cs typeface="Garet Bold"/>
                <a:sym typeface="Garet Bold"/>
              </a:rPr>
              <a:t>    </a:t>
            </a:r>
          </a:p>
          <a:p>
            <a:pPr algn="just">
              <a:lnSpc>
                <a:spcPts val="3432"/>
              </a:lnSpc>
            </a:pPr>
            <a:r>
              <a:rPr lang="en-US" sz="2451" b="1" dirty="0">
                <a:solidFill>
                  <a:srgbClr val="545454"/>
                </a:solidFill>
                <a:latin typeface="Garet Bold"/>
                <a:ea typeface="Garet Bold"/>
                <a:cs typeface="Garet Bold"/>
                <a:sym typeface="Garet Bold"/>
              </a:rPr>
              <a:t> </a:t>
            </a:r>
            <a:r>
              <a:rPr lang="en-US" sz="2451" dirty="0">
                <a:solidFill>
                  <a:srgbClr val="545454"/>
                </a:solidFill>
                <a:latin typeface="Garet"/>
                <a:ea typeface="Garet"/>
                <a:cs typeface="Garet"/>
                <a:sym typeface="Garet"/>
              </a:rPr>
              <a:t>Data Analysis using Power BI with cleaning, modeling, and    dashboard building</a:t>
            </a:r>
          </a:p>
          <a:p>
            <a:pPr algn="just">
              <a:lnSpc>
                <a:spcPts val="3432"/>
              </a:lnSpc>
              <a:spcBef>
                <a:spcPct val="0"/>
              </a:spcBef>
            </a:pPr>
            <a:endParaRPr lang="en-US" sz="2451" dirty="0">
              <a:solidFill>
                <a:srgbClr val="545454"/>
              </a:solidFill>
              <a:latin typeface="Garet"/>
              <a:ea typeface="Garet"/>
              <a:cs typeface="Garet"/>
              <a:sym typeface="Garet"/>
            </a:endParaRPr>
          </a:p>
        </p:txBody>
      </p:sp>
      <p:sp>
        <p:nvSpPr>
          <p:cNvPr id="7" name="TextBox 7"/>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10</a:t>
            </a:r>
          </a:p>
        </p:txBody>
      </p:sp>
    </p:spTree>
    <p:extLst>
      <p:ext uri="{BB962C8B-B14F-4D97-AF65-F5344CB8AC3E}">
        <p14:creationId xmlns:p14="http://schemas.microsoft.com/office/powerpoint/2010/main" val="13896292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49004" y="-21502"/>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574333">
            <a:off x="-449004" y="5410055"/>
            <a:ext cx="3630278" cy="506869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AutoShape 4"/>
          <p:cNvSpPr/>
          <p:nvPr/>
        </p:nvSpPr>
        <p:spPr>
          <a:xfrm>
            <a:off x="3406065" y="8384010"/>
            <a:ext cx="8754631" cy="0"/>
          </a:xfrm>
          <a:prstGeom prst="line">
            <a:avLst/>
          </a:prstGeom>
          <a:ln w="9525" cap="flat">
            <a:solidFill>
              <a:srgbClr val="545454"/>
            </a:solidFill>
            <a:prstDash val="solid"/>
            <a:headEnd type="none" w="sm" len="sm"/>
            <a:tailEnd type="none" w="sm" len="sm"/>
          </a:ln>
        </p:spPr>
        <p:txBody>
          <a:bodyPr/>
          <a:lstStyle/>
          <a:p>
            <a:endParaRPr lang="en-US"/>
          </a:p>
        </p:txBody>
      </p:sp>
      <p:pic>
        <p:nvPicPr>
          <p:cNvPr id="5" name="Picture 5"/>
          <p:cNvPicPr>
            <a:picLocks noChangeAspect="1"/>
          </p:cNvPicPr>
          <p:nvPr/>
        </p:nvPicPr>
        <p:blipFill>
          <a:blip r:embed="rId6"/>
          <a:srcRect/>
          <a:stretch>
            <a:fillRect/>
          </a:stretch>
        </p:blipFill>
        <p:spPr>
          <a:xfrm>
            <a:off x="1117433" y="3383885"/>
            <a:ext cx="12172950" cy="2982373"/>
          </a:xfrm>
          <a:prstGeom prst="rect">
            <a:avLst/>
          </a:prstGeom>
        </p:spPr>
      </p:pic>
      <p:sp>
        <p:nvSpPr>
          <p:cNvPr id="6" name="TextBox 6"/>
          <p:cNvSpPr txBox="1"/>
          <p:nvPr/>
        </p:nvSpPr>
        <p:spPr>
          <a:xfrm>
            <a:off x="12160693" y="8050578"/>
            <a:ext cx="953681" cy="641201"/>
          </a:xfrm>
          <a:prstGeom prst="rect">
            <a:avLst/>
          </a:prstGeom>
        </p:spPr>
        <p:txBody>
          <a:bodyPr lIns="0" tIns="0" rIns="0" bIns="0" rtlCol="0" anchor="t">
            <a:spAutoFit/>
          </a:bodyPr>
          <a:lstStyle/>
          <a:p>
            <a:pPr algn="ctr">
              <a:lnSpc>
                <a:spcPts val="4981"/>
              </a:lnSpc>
              <a:spcBef>
                <a:spcPct val="0"/>
              </a:spcBef>
            </a:pPr>
            <a:r>
              <a:rPr lang="en-US" sz="3557" b="1">
                <a:solidFill>
                  <a:srgbClr val="545454"/>
                </a:solidFill>
                <a:latin typeface="Garet Bold"/>
                <a:ea typeface="Garet Bold"/>
                <a:cs typeface="Garet Bold"/>
                <a:sym typeface="Garet Bold"/>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397</Words>
  <Application>Microsoft Office PowerPoint</Application>
  <PresentationFormat>Custom</PresentationFormat>
  <Paragraphs>64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Garet</vt:lpstr>
      <vt:lpstr>Alexandria Bold</vt:lpstr>
      <vt:lpstr>Garet Bold</vt:lpstr>
      <vt:lpstr>Arial</vt:lpstr>
      <vt:lpstr>Alexandria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Professional Project Presentation</dc:title>
  <dc:creator>dell</dc:creator>
  <cp:lastModifiedBy>dell</cp:lastModifiedBy>
  <cp:revision>7</cp:revision>
  <dcterms:created xsi:type="dcterms:W3CDTF">2006-08-16T00:00:00Z</dcterms:created>
  <dcterms:modified xsi:type="dcterms:W3CDTF">2025-05-09T20:40:40Z</dcterms:modified>
  <dc:identifier>DAGm4j49JN0</dc:identifier>
</cp:coreProperties>
</file>